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7" cy="2554758"/>
          </a:xfrm>
        </p:spPr>
        <p:txBody>
          <a:bodyPr anchor="b"/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7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7419" y="1824010"/>
            <a:ext cx="990599" cy="240258"/>
          </a:xfrm>
        </p:spPr>
        <p:txBody>
          <a:bodyPr/>
          <a:lstStyle>
            <a:lvl1pPr algn="l">
              <a:defRPr sz="900"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46568" y="3264407"/>
            <a:ext cx="3859795" cy="228659"/>
          </a:xfrm>
        </p:spPr>
        <p:txBody>
          <a:bodyPr/>
          <a:lstStyle>
            <a:lvl1pPr>
              <a:defRPr sz="9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05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74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6443" y="2257588"/>
            <a:ext cx="3101763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third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267"/>
            <a:ext cx="3054653" cy="3020345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7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79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532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9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040"/>
            <a:ext cx="3636978" cy="277176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0" y="248875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040"/>
            <a:ext cx="3636980" cy="277390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53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8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6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90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40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21" name="Rectangle 2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Oval 2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3112"/>
            <a:ext cx="3001938" cy="1613085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2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Rectangle 14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58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3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07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1" name="TextBox 10"/>
          <p:cNvSpPr txBox="1"/>
          <p:nvPr/>
        </p:nvSpPr>
        <p:spPr bwMode="gray">
          <a:xfrm>
            <a:off x="7033421" y="2893960"/>
            <a:ext cx="679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10" name="TextBox 9"/>
          <p:cNvSpPr txBox="1"/>
          <p:nvPr/>
        </p:nvSpPr>
        <p:spPr bwMode="gray">
          <a:xfrm>
            <a:off x="625840" y="590998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763" y="914400"/>
            <a:ext cx="6177681" cy="28846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78870" y="5000815"/>
            <a:ext cx="6422005" cy="101817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01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19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1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2"/>
            <a:ext cx="2313431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5332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2"/>
            <a:ext cx="2326750" cy="288836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40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8710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27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390" y="4179595"/>
            <a:ext cx="2295329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48208"/>
            <a:ext cx="2309279" cy="11766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30434" y="4179594"/>
            <a:ext cx="2291674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6834"/>
            <a:ext cx="2025182" cy="144970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48209"/>
            <a:ext cx="2317790" cy="118837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66523"/>
            <a:ext cx="2304671" cy="681684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489200"/>
            <a:ext cx="2018838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8209"/>
            <a:ext cx="2304671" cy="118942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44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48436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65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2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9" name="Rectangle 18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6" name="Freeform 25"/>
            <p:cNvSpPr/>
            <p:nvPr/>
          </p:nvSpPr>
          <p:spPr bwMode="gray">
            <a:xfrm>
              <a:off x="485023" y="1856958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1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1"/>
            <a:ext cx="6345260" cy="3530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0111" y="6377097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73195"/>
            <a:ext cx="3859795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1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AtliQ Hospitality Insights 360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Business Intelligence Dashboard Project</a:t>
            </a:r>
          </a:p>
          <a:p>
            <a:endParaRPr dirty="0"/>
          </a:p>
          <a:p>
            <a:r>
              <a:rPr lang="en-US" dirty="0"/>
              <a:t>DESIGNED BY :- WANI UMER  (</a:t>
            </a:r>
            <a:r>
              <a:rPr dirty="0"/>
              <a:t>Data Analyst</a:t>
            </a:r>
            <a:r>
              <a:rPr lang="en-US" dirty="0"/>
              <a:t>)</a:t>
            </a:r>
            <a:endParaRPr dirty="0"/>
          </a:p>
          <a:p>
            <a:endParaRPr dirty="0"/>
          </a:p>
          <a:p>
            <a:r>
              <a:rPr dirty="0"/>
              <a:t>Tools: Power BI | Power Query | Data Modeling | Business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This project builds a Power BI dashboard to analyze hospitality performance.</a:t>
            </a:r>
          </a:p>
          <a:p>
            <a:endParaRPr/>
          </a:p>
          <a:p>
            <a:r>
              <a:t>The goal is to provide a 360° view of hotel operations including:</a:t>
            </a:r>
          </a:p>
          <a:p>
            <a:r>
              <a:t>- Revenue performance</a:t>
            </a:r>
          </a:p>
          <a:p>
            <a:r>
              <a:t>- Occupancy trends</a:t>
            </a:r>
          </a:p>
          <a:p>
            <a:r>
              <a:t>- Booking platforms</a:t>
            </a:r>
          </a:p>
          <a:p>
            <a:r>
              <a:t>- Customer ratings</a:t>
            </a:r>
          </a:p>
          <a:p>
            <a:r>
              <a:t>- Demand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AtliQ Hospitality faced challenges in understanding:</a:t>
            </a:r>
          </a:p>
          <a:p>
            <a:r>
              <a:t>- Revenue performance across properties</a:t>
            </a:r>
          </a:p>
          <a:p>
            <a:r>
              <a:t>- Booking platform behavior</a:t>
            </a:r>
          </a:p>
          <a:p>
            <a:r>
              <a:t>- Occupancy fluctuations</a:t>
            </a:r>
          </a:p>
          <a:p>
            <a:r>
              <a:t>- Customer ratings and cancellations</a:t>
            </a:r>
          </a:p>
          <a:p>
            <a:r>
              <a:t>- Weekday vs weekend demand patterns</a:t>
            </a:r>
          </a:p>
          <a:p>
            <a:endParaRPr/>
          </a:p>
          <a:p>
            <a:r>
              <a:t>A centralized analytics dashboard was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– Power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CSV/Excel data was cleaned using Power Query.</a:t>
            </a:r>
          </a:p>
          <a:p>
            <a:endParaRPr/>
          </a:p>
          <a:p>
            <a:r>
              <a:t>Steps included:</a:t>
            </a:r>
          </a:p>
          <a:p>
            <a:r>
              <a:t>- Removing inconsistencies</a:t>
            </a:r>
          </a:p>
          <a:p>
            <a:r>
              <a:t>- Handling missing values</a:t>
            </a:r>
          </a:p>
          <a:p>
            <a:r>
              <a:t>- Standardizing date formats</a:t>
            </a:r>
          </a:p>
          <a:p>
            <a:r>
              <a:t>- Preparing structured datasets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 – Star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The dataset was modeled using a star schema.</a:t>
            </a:r>
          </a:p>
          <a:p>
            <a:endParaRPr/>
          </a:p>
          <a:p>
            <a:r>
              <a:t>Fact Table:</a:t>
            </a:r>
          </a:p>
          <a:p>
            <a:r>
              <a:t>- Bookings</a:t>
            </a:r>
          </a:p>
          <a:p>
            <a:endParaRPr/>
          </a:p>
          <a:p>
            <a:r>
              <a:t>Dimension Tables:</a:t>
            </a:r>
          </a:p>
          <a:p>
            <a:r>
              <a:t>- Calendar</a:t>
            </a:r>
          </a:p>
          <a:p>
            <a:r>
              <a:t>- Properties</a:t>
            </a:r>
          </a:p>
          <a:p>
            <a:r>
              <a:t>- Platforms</a:t>
            </a:r>
          </a:p>
          <a:p>
            <a:r>
              <a:t>- Room Categories</a:t>
            </a:r>
          </a:p>
          <a:p>
            <a:r>
              <a:t>- Cities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 revealed:</a:t>
            </a:r>
          </a:p>
          <a:p>
            <a:endParaRPr/>
          </a:p>
          <a:p>
            <a:r>
              <a:t>Revenue: 1.71B</a:t>
            </a:r>
          </a:p>
          <a:p>
            <a:r>
              <a:t>Occupancy: 58%</a:t>
            </a:r>
          </a:p>
          <a:p>
            <a:r>
              <a:t>Cancellation Rate: 25%</a:t>
            </a:r>
          </a:p>
          <a:p>
            <a:r>
              <a:t>Average Rating: 3.62</a:t>
            </a:r>
          </a:p>
          <a:p>
            <a:endParaRPr/>
          </a:p>
          <a:p>
            <a:r>
              <a:t>Occupancy is below the industry benchmark of 68–75%.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Weekday vs Weekend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Weekday Performance:</a:t>
            </a:r>
          </a:p>
          <a:p>
            <a:r>
              <a:t>Revenue: 1.18B</a:t>
            </a:r>
          </a:p>
          <a:p>
            <a:r>
              <a:t>Bookings: 93K</a:t>
            </a:r>
          </a:p>
          <a:p>
            <a:r>
              <a:t>Occupancy: 56%</a:t>
            </a:r>
          </a:p>
          <a:p>
            <a:endParaRPr/>
          </a:p>
          <a:p>
            <a:r>
              <a:t>Weekend Performance:</a:t>
            </a:r>
          </a:p>
          <a:p>
            <a:r>
              <a:t>Revenue: 524M</a:t>
            </a:r>
          </a:p>
          <a:p>
            <a:r>
              <a:t>Bookings: 41K</a:t>
            </a:r>
          </a:p>
          <a:p>
            <a:r>
              <a:t>Occupancy: 63%</a:t>
            </a:r>
          </a:p>
          <a:p>
            <a:endParaRPr/>
          </a:p>
          <a:p>
            <a:r>
              <a:t>This indicates different demand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Revenue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performing properties:</a:t>
            </a:r>
          </a:p>
          <a:p>
            <a:r>
              <a:t>- AtliQ Exotica – 19%</a:t>
            </a:r>
          </a:p>
          <a:p>
            <a:r>
              <a:t>- AtliQ Palace – 18%</a:t>
            </a:r>
          </a:p>
          <a:p>
            <a:r>
              <a:t>- AtliQ City – 17%</a:t>
            </a:r>
          </a:p>
          <a:p>
            <a:endParaRPr/>
          </a:p>
          <a:p>
            <a:r>
              <a:t>Weakest property:</a:t>
            </a:r>
          </a:p>
          <a:p>
            <a:r>
              <a:t>AtliQ Seasons – 4% revenue share.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City Revenue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by city:</a:t>
            </a:r>
          </a:p>
          <a:p>
            <a:endParaRPr/>
          </a:p>
          <a:p>
            <a:r>
              <a:t>Mumbai – 669M</a:t>
            </a:r>
          </a:p>
          <a:p>
            <a:r>
              <a:t>Bangalore – 420M</a:t>
            </a:r>
          </a:p>
          <a:p>
            <a:r>
              <a:t>Hyderabad – 325M</a:t>
            </a:r>
          </a:p>
          <a:p>
            <a:r>
              <a:t>Delhi – 295M</a:t>
            </a:r>
          </a:p>
          <a:p>
            <a:endParaRPr/>
          </a:p>
          <a:p>
            <a:r>
              <a:t>Mumbai contributes nearly 40% of total revenue.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Platform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distribution:</a:t>
            </a:r>
          </a:p>
          <a:p>
            <a:r>
              <a:t>- Others – 41%</a:t>
            </a:r>
          </a:p>
          <a:p>
            <a:r>
              <a:t>- MakeYourTrip – 20%</a:t>
            </a:r>
          </a:p>
          <a:p>
            <a:r>
              <a:t>- Logtrip – 11%</a:t>
            </a:r>
          </a:p>
          <a:p>
            <a:r>
              <a:t>- Direct Online – 10%</a:t>
            </a:r>
          </a:p>
          <a:p>
            <a:endParaRPr/>
          </a:p>
          <a:p>
            <a:r>
              <a:t>Heavy dependence on one channel increases risk.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Highest occupancy:</a:t>
            </a:r>
          </a:p>
          <a:p>
            <a:r>
              <a:t>AtliQ Palace – 60%</a:t>
            </a:r>
          </a:p>
          <a:p>
            <a:endParaRPr/>
          </a:p>
          <a:p>
            <a:r>
              <a:t>Lowest occupancy:</a:t>
            </a:r>
          </a:p>
          <a:p>
            <a:r>
              <a:t>AtliQ Seasons – 45%</a:t>
            </a:r>
          </a:p>
          <a:p>
            <a:endParaRPr/>
          </a:p>
          <a:p>
            <a:r>
              <a:t>AtliQ Seasons rating: 2.29</a:t>
            </a:r>
          </a:p>
          <a:p>
            <a:r>
              <a:t>Indicating service quality issues.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Room Category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Booking distribution:</a:t>
            </a:r>
          </a:p>
          <a:p>
            <a:r>
              <a:t>- Elite – 36.78%</a:t>
            </a:r>
          </a:p>
          <a:p>
            <a:r>
              <a:t>- Standard – 28.57%</a:t>
            </a:r>
          </a:p>
          <a:p>
            <a:r>
              <a:t>- Premium – 22.71%</a:t>
            </a:r>
          </a:p>
          <a:p>
            <a:r>
              <a:t>- Presidential – 11.94%</a:t>
            </a:r>
          </a:p>
          <a:p>
            <a:endParaRPr/>
          </a:p>
          <a:p>
            <a:r>
              <a:t>Presidential rooms generate the highest revenue per booking.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Revenue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Weekly revenue typically ranges between:</a:t>
            </a:r>
          </a:p>
          <a:p>
            <a:r>
              <a:t>114M – 139M</a:t>
            </a:r>
          </a:p>
          <a:p>
            <a:endParaRPr/>
          </a:p>
          <a:p>
            <a:r>
              <a:t>A major drop occurred in Week 32</a:t>
            </a:r>
          </a:p>
          <a:p>
            <a:r>
              <a:t>(115M → 21M).</a:t>
            </a:r>
          </a:p>
          <a:p>
            <a:endParaRPr/>
          </a:p>
          <a:p>
            <a:r>
              <a:t>This may indicate a seasonal drop or data issue.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insights discovered:</a:t>
            </a:r>
          </a:p>
          <a:p>
            <a:r>
              <a:t>- Occupancy is below industry benchmark</a:t>
            </a:r>
          </a:p>
          <a:p>
            <a:r>
              <a:t>- High cancellation rate impacts revenue</a:t>
            </a:r>
          </a:p>
          <a:p>
            <a:r>
              <a:t>- Mumbai dominates revenue contribution</a:t>
            </a:r>
          </a:p>
          <a:p>
            <a:r>
              <a:t>- Revenue concentrated among few properties</a:t>
            </a:r>
          </a:p>
          <a:p>
            <a:r>
              <a:t>- Platform dependency increases operational risk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strategies:</a:t>
            </a:r>
          </a:p>
          <a:p>
            <a:r>
              <a:t>- Improve occupancy through corporate partnerships</a:t>
            </a:r>
          </a:p>
          <a:p>
            <a:r>
              <a:t>- Reduce cancellations using stricter policies</a:t>
            </a:r>
          </a:p>
          <a:p>
            <a:r>
              <a:t>- Strengthen direct booking channels</a:t>
            </a:r>
          </a:p>
          <a:p>
            <a:r>
              <a:t>- Improve service quality in low-rated properties</a:t>
            </a:r>
          </a:p>
          <a:p>
            <a:r>
              <a:t>- Expand high-revenue markets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Additional actions include:</a:t>
            </a:r>
          </a:p>
          <a:p>
            <a:r>
              <a:t>- Dynamic pricing strategies</a:t>
            </a:r>
          </a:p>
          <a:p>
            <a:r>
              <a:t>- Demand forecasting models</a:t>
            </a:r>
          </a:p>
          <a:p>
            <a:r>
              <a:t>- Premium room upgrades</a:t>
            </a:r>
          </a:p>
          <a:p>
            <a:r>
              <a:t>- Loyalty programs for direct bookings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Power BI dashboard enables AtliQ Hospitality</a:t>
            </a:r>
          </a:p>
          <a:p>
            <a:r>
              <a:t>to monitor performance across properties, cities,</a:t>
            </a:r>
          </a:p>
          <a:p>
            <a:r>
              <a:t>and booking platforms.</a:t>
            </a:r>
          </a:p>
          <a:p>
            <a:endParaRPr/>
          </a:p>
          <a:p>
            <a:r>
              <a:t>The insights support data-driven decisions</a:t>
            </a:r>
          </a:p>
          <a:p>
            <a:r>
              <a:t>in pricing, marketing, and expansion strategy.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800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866441" y="6019800"/>
            <a:ext cx="1593295" cy="271272"/>
          </a:xfrm>
        </p:spPr>
        <p:txBody>
          <a:bodyPr>
            <a:normAutofit fontScale="77500" lnSpcReduction="20000"/>
          </a:bodyPr>
          <a:lstStyle/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571</Words>
  <Application>Microsoft Office PowerPoint</Application>
  <PresentationFormat>On-screen Show (4:3)</PresentationFormat>
  <Paragraphs>143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Century Gothic</vt:lpstr>
      <vt:lpstr>Wingdings 3</vt:lpstr>
      <vt:lpstr>Ion Boardroom</vt:lpstr>
      <vt:lpstr>AtliQ Hospitality Insights 360</vt:lpstr>
      <vt:lpstr>Project Overview</vt:lpstr>
      <vt:lpstr>Business Problem</vt:lpstr>
      <vt:lpstr>Data Cleaning – Power Query</vt:lpstr>
      <vt:lpstr>Data Modeling – Star Schema</vt:lpstr>
      <vt:lpstr>Overall Performance</vt:lpstr>
      <vt:lpstr>Weekday vs Weekend Performance</vt:lpstr>
      <vt:lpstr>Top Revenue Properties</vt:lpstr>
      <vt:lpstr>City Revenue Distribution</vt:lpstr>
      <vt:lpstr>Booking Platform Analysis</vt:lpstr>
      <vt:lpstr>Property Performance</vt:lpstr>
      <vt:lpstr>Room Category Insights</vt:lpstr>
      <vt:lpstr>Weekly Revenue Trends</vt:lpstr>
      <vt:lpstr>Key Business Insights</vt:lpstr>
      <vt:lpstr>Business Recommendations</vt:lpstr>
      <vt:lpstr>Strategic Improvements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AR</cp:lastModifiedBy>
  <cp:revision>2</cp:revision>
  <dcterms:created xsi:type="dcterms:W3CDTF">2013-01-27T09:14:16Z</dcterms:created>
  <dcterms:modified xsi:type="dcterms:W3CDTF">2026-03-08T10:18:29Z</dcterms:modified>
  <cp:category/>
</cp:coreProperties>
</file>